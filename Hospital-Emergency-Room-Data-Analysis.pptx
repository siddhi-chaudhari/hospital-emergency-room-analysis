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embeddedFontLst>
    <p:embeddedFont>
      <p:font typeface="Merriweather Bold"/>
      <p:regular r:id="rId201314"/>
    </p:embeddedFont>
    <p:embeddedFont>
      <p:font typeface="Open Sans Bold"/>
      <p:regular r:id="rId201315"/>
    </p:embeddedFont>
    <p:embeddedFont>
      <p:font typeface="Open Sans"/>
      <p:regular r:id="rId20131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image" Target="../media/image-5-3.png"/><Relationship Id="rId4" Type="http://schemas.openxmlformats.org/officeDocument/2006/relationships/image" Target="../media/image-5-4.sv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image" Target="../media/image-9-2.jpeg"/><Relationship Id="rId3" Type="http://schemas.openxmlformats.org/officeDocument/2006/relationships/image" Target="../media/image-9-3.jpeg"/><Relationship Id="rId4" Type="http://schemas.openxmlformats.org/officeDocument/2006/relationships/image" Target="../media/image-9-4.jpe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svg"/><Relationship Id="rId3" Type="http://schemas.openxmlformats.org/officeDocument/2006/relationships/image" Target="../media/image-10-1.png"/><Relationship Id="rId4" Type="http://schemas.openxmlformats.org/officeDocument/2006/relationships/image" Target="../media/image-10-2.svg"/><Relationship Id="rId5" Type="http://schemas.openxmlformats.org/officeDocument/2006/relationships/image" Target="../media/image-10-1.png"/><Relationship Id="rId6" Type="http://schemas.openxmlformats.org/officeDocument/2006/relationships/image" Target="../media/image-10-2.svg"/><Relationship Id="rId7" Type="http://schemas.openxmlformats.org/officeDocument/2006/relationships/image" Target="../media/image-10-1.png"/><Relationship Id="rId8" Type="http://schemas.openxmlformats.org/officeDocument/2006/relationships/image" Target="../media/image-10-2.svg"/><Relationship Id="rId9" Type="http://schemas.openxmlformats.org/officeDocument/2006/relationships/image" Target="../media/image-10-1.png"/><Relationship Id="rId10" Type="http://schemas.openxmlformats.org/officeDocument/2006/relationships/image" Target="../media/image-10-2.svg"/><Relationship Id="rId11" Type="http://schemas.openxmlformats.org/officeDocument/2006/relationships/slideLayout" Target="../slideLayouts/slideLayout2.xml"/><Relationship Id="rId1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2263540"/>
            <a:ext cx="6296860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0"/>
              </a:rPr>
              <a:t>Hospital Emergency Room Data Analysis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661475" y="3707705"/>
            <a:ext cx="6296860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0"/>
              </a:rPr>
              <a:t>Analysis of 9,216 ED records to understand demographics, admissions, wait times, satisfaction, and referrals. Tools: Python (cleaning &amp; EDA), PostgreSQL (analysis), Power BI (dashboard &amp; visualization).</a:t>
            </a:r>
            <a:endParaRPr lang="en-US" sz="1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1362534"/>
            <a:ext cx="6296860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0"/>
              </a:rPr>
              <a:t>Dataset Snapshot</a:t>
            </a:r>
            <a:endParaRPr lang="en-US" sz="3700" dirty="0"/>
          </a:p>
        </p:txBody>
      </p:sp>
      <p:sp>
        <p:nvSpPr>
          <p:cNvPr id="4" name="Shape 1"/>
          <p:cNvSpPr/>
          <p:nvPr/>
        </p:nvSpPr>
        <p:spPr>
          <a:xfrm>
            <a:off x="5233360" y="2216051"/>
            <a:ext cx="3053877" cy="2009080"/>
          </a:xfrm>
          <a:prstGeom prst="roundRect">
            <a:avLst>
              <a:gd name="adj" fmla="val 3951"/>
            </a:avLst>
          </a:prstGeom>
          <a:solidFill>
            <a:srgbClr val="FFD8CC"/>
          </a:solidFill>
          <a:ln w="6350">
            <a:solidFill>
              <a:srgbClr val="E5BEB2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428717" y="2411413"/>
            <a:ext cx="2663163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0"/>
              </a:rPr>
              <a:t>Rows &amp; Columns</a:t>
            </a:r>
            <a:endParaRPr lang="en-US" sz="1850" dirty="0"/>
          </a:p>
        </p:txBody>
      </p:sp>
      <p:sp>
        <p:nvSpPr>
          <p:cNvPr id="6" name="Text 3"/>
          <p:cNvSpPr/>
          <p:nvPr/>
        </p:nvSpPr>
        <p:spPr>
          <a:xfrm>
            <a:off x="5428717" y="2820095"/>
            <a:ext cx="2663163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0"/>
              </a:rPr>
              <a:t>9,216 rows • 12 original columns</a:t>
            </a:r>
            <a:endParaRPr lang="en-US" sz="1450" dirty="0"/>
          </a:p>
        </p:txBody>
      </p:sp>
      <p:sp>
        <p:nvSpPr>
          <p:cNvPr id="7" name="Shape 4"/>
          <p:cNvSpPr/>
          <p:nvPr/>
        </p:nvSpPr>
        <p:spPr>
          <a:xfrm>
            <a:off x="8476244" y="2216051"/>
            <a:ext cx="3053976" cy="2009080"/>
          </a:xfrm>
          <a:prstGeom prst="roundRect">
            <a:avLst>
              <a:gd name="adj" fmla="val 3951"/>
            </a:avLst>
          </a:prstGeom>
          <a:solidFill>
            <a:srgbClr val="FFD8CC"/>
          </a:solidFill>
          <a:ln w="6350">
            <a:solidFill>
              <a:srgbClr val="E5BEB2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671601" y="2411413"/>
            <a:ext cx="2663262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0"/>
              </a:rPr>
              <a:t>Key Features</a:t>
            </a:r>
            <a:endParaRPr lang="en-US" sz="1850" dirty="0"/>
          </a:p>
        </p:txBody>
      </p:sp>
      <p:sp>
        <p:nvSpPr>
          <p:cNvPr id="9" name="Text 6"/>
          <p:cNvSpPr/>
          <p:nvPr/>
        </p:nvSpPr>
        <p:spPr>
          <a:xfrm>
            <a:off x="8671601" y="2820095"/>
            <a:ext cx="2663262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0"/>
              </a:rPr>
              <a:t>Gender, Age, Race, Admission Date, Department Referral, Admission Flag, Satisfaction, Waittime</a:t>
            </a:r>
            <a:endParaRPr lang="en-US" sz="1450" dirty="0"/>
          </a:p>
        </p:txBody>
      </p:sp>
      <p:sp>
        <p:nvSpPr>
          <p:cNvPr id="10" name="Shape 7"/>
          <p:cNvSpPr/>
          <p:nvPr/>
        </p:nvSpPr>
        <p:spPr>
          <a:xfrm>
            <a:off x="5233360" y="4414143"/>
            <a:ext cx="6296860" cy="1101824"/>
          </a:xfrm>
          <a:prstGeom prst="roundRect">
            <a:avLst>
              <a:gd name="adj" fmla="val 7205"/>
            </a:avLst>
          </a:prstGeom>
          <a:solidFill>
            <a:srgbClr val="FFD8CC"/>
          </a:solidFill>
          <a:ln w="6350">
            <a:solidFill>
              <a:srgbClr val="E5BEB2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428717" y="4609505"/>
            <a:ext cx="590614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0"/>
              </a:rPr>
              <a:t>Missing Data</a:t>
            </a:r>
            <a:endParaRPr lang="en-US" sz="1850" dirty="0"/>
          </a:p>
        </p:txBody>
      </p:sp>
      <p:sp>
        <p:nvSpPr>
          <p:cNvPr id="12" name="Text 9"/>
          <p:cNvSpPr/>
          <p:nvPr/>
        </p:nvSpPr>
        <p:spPr>
          <a:xfrm>
            <a:off x="5428717" y="5018187"/>
            <a:ext cx="5906146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0"/>
              </a:rPr>
              <a:t>Department Referral and Satisfaction Score contain missing values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843918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0"/>
              </a:rPr>
              <a:t>Sample Records (Illustrative)</a:t>
            </a:r>
            <a:endParaRPr lang="en-US" sz="37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910060"/>
            <a:ext cx="6903269" cy="391189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032251" y="3109913"/>
            <a:ext cx="3504219" cy="1512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0"/>
              </a:rPr>
              <a:t>Examples show varied ages (4–79), multiple races, mixed admission flags, and wait times like "39 min", "55 min". Names anonymized in cleaning. Date range spans 2023–2024 entries.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549718"/>
            <a:ext cx="6296860" cy="9044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80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0"/>
              </a:rPr>
              <a:t>Data Preparation &amp; Feature Engineering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61475" y="1606451"/>
            <a:ext cx="289414" cy="18087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0"/>
              </a:rPr>
              <a:t>01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661475" y="1833265"/>
            <a:ext cx="6296860" cy="19050"/>
          </a:xfrm>
          <a:prstGeom prst="rect">
            <a:avLst/>
          </a:prstGeom>
          <a:solidFill>
            <a:srgbClr val="FFAD94"/>
          </a:solidFill>
          <a:ln/>
        </p:spPr>
      </p:sp>
      <p:sp>
        <p:nvSpPr>
          <p:cNvPr id="6" name="Text 3"/>
          <p:cNvSpPr/>
          <p:nvPr/>
        </p:nvSpPr>
        <p:spPr>
          <a:xfrm>
            <a:off x="661475" y="1943695"/>
            <a:ext cx="6296860" cy="226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0"/>
              </a:rPr>
              <a:t>Cleaning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661475" y="2236192"/>
            <a:ext cx="6296860" cy="4087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0"/>
              </a:rPr>
              <a:t>Removed name columns, standardized genders, fixed column names (lowercase, underscores).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661475" y="2864148"/>
            <a:ext cx="289414" cy="18087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0"/>
              </a:rPr>
              <a:t>02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61475" y="3090962"/>
            <a:ext cx="6296860" cy="19050"/>
          </a:xfrm>
          <a:prstGeom prst="rect">
            <a:avLst/>
          </a:prstGeom>
          <a:solidFill>
            <a:srgbClr val="FFAD94"/>
          </a:solidFill>
          <a:ln/>
        </p:spPr>
      </p:sp>
      <p:sp>
        <p:nvSpPr>
          <p:cNvPr id="10" name="Text 7"/>
          <p:cNvSpPr/>
          <p:nvPr/>
        </p:nvSpPr>
        <p:spPr>
          <a:xfrm>
            <a:off x="661475" y="3201392"/>
            <a:ext cx="6296860" cy="226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0"/>
              </a:rPr>
              <a:t>Missing Values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661475" y="3493889"/>
            <a:ext cx="6296860" cy="4087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0"/>
              </a:rPr>
              <a:t>Filled department referrals with mode and satisfaction scores with median where appropriate.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661475" y="4121845"/>
            <a:ext cx="289414" cy="18087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0"/>
              </a:rPr>
              <a:t>03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661475" y="4348659"/>
            <a:ext cx="6296860" cy="19050"/>
          </a:xfrm>
          <a:prstGeom prst="rect">
            <a:avLst/>
          </a:prstGeom>
          <a:solidFill>
            <a:srgbClr val="FFAD94"/>
          </a:solidFill>
          <a:ln/>
        </p:spPr>
      </p:sp>
      <p:sp>
        <p:nvSpPr>
          <p:cNvPr id="14" name="Text 11"/>
          <p:cNvSpPr/>
          <p:nvPr/>
        </p:nvSpPr>
        <p:spPr>
          <a:xfrm>
            <a:off x="661475" y="4459089"/>
            <a:ext cx="6296860" cy="226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0"/>
              </a:rPr>
              <a:t>Types &amp; Features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661475" y="4751586"/>
            <a:ext cx="6296860" cy="4087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0"/>
              </a:rPr>
              <a:t>Converted dates and wait times, created age_group (qcut), extracted month/quarter/day/hour.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661475" y="5379541"/>
            <a:ext cx="289414" cy="18087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0"/>
              </a:rPr>
              <a:t>04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661475" y="5606355"/>
            <a:ext cx="6296860" cy="19050"/>
          </a:xfrm>
          <a:prstGeom prst="rect">
            <a:avLst/>
          </a:prstGeom>
          <a:solidFill>
            <a:srgbClr val="FFAD94"/>
          </a:solidFill>
          <a:ln/>
        </p:spPr>
      </p:sp>
      <p:sp>
        <p:nvSpPr>
          <p:cNvPr id="18" name="Text 15"/>
          <p:cNvSpPr/>
          <p:nvPr/>
        </p:nvSpPr>
        <p:spPr>
          <a:xfrm>
            <a:off x="661475" y="5716786"/>
            <a:ext cx="6296860" cy="226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0"/>
              </a:rPr>
              <a:t>DB Integration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661475" y="6009283"/>
            <a:ext cx="6296860" cy="2043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0"/>
              </a:rPr>
              <a:t>Loaded cleaned data into PostgreSQL for structured querying.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672990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0"/>
              </a:rPr>
              <a:t>Core SQL Analyses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2696567"/>
            <a:ext cx="5203794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0"/>
              </a:rPr>
              <a:t>Key queries run in PostgreSQL to answer operational questions: total visits by gender, admission rates, top departments by admission rate, waiting time outliers, and department satisfaction averages.</a:t>
            </a:r>
            <a:endParaRPr lang="en-US" sz="14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332776" y="2739132"/>
            <a:ext cx="472468" cy="4724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041478" y="2739132"/>
            <a:ext cx="4495092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0"/>
              </a:rPr>
              <a:t>Total by Gender</a:t>
            </a:r>
            <a:endParaRPr lang="en-US" sz="1850" dirty="0"/>
          </a:p>
        </p:txBody>
      </p:sp>
      <p:sp>
        <p:nvSpPr>
          <p:cNvPr id="6" name="Text 3"/>
          <p:cNvSpPr/>
          <p:nvPr/>
        </p:nvSpPr>
        <p:spPr>
          <a:xfrm>
            <a:off x="7041478" y="3223419"/>
            <a:ext cx="4495092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0"/>
              </a:rPr>
              <a:t>Male: 4,729 • Female: 4,487</a:t>
            </a:r>
            <a:endParaRPr lang="en-US" sz="14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332776" y="3903861"/>
            <a:ext cx="472468" cy="47248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041478" y="3903861"/>
            <a:ext cx="4495092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0"/>
              </a:rPr>
              <a:t>Admission Split</a:t>
            </a:r>
            <a:endParaRPr lang="en-US" sz="1850" dirty="0"/>
          </a:p>
        </p:txBody>
      </p:sp>
      <p:sp>
        <p:nvSpPr>
          <p:cNvPr id="9" name="Text 5"/>
          <p:cNvSpPr/>
          <p:nvPr/>
        </p:nvSpPr>
        <p:spPr>
          <a:xfrm>
            <a:off x="7041478" y="4388148"/>
            <a:ext cx="4495092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0"/>
              </a:rPr>
              <a:t>Admitted: 4,612 (50.04%) • Not admitted: 4,604 (49.96%)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843918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0"/>
              </a:rPr>
              <a:t>Department Admission Rates</a:t>
            </a:r>
            <a:endParaRPr lang="en-US" sz="37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910060"/>
            <a:ext cx="6903269" cy="391189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032251" y="2188666"/>
            <a:ext cx="3504219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0"/>
              </a:rPr>
              <a:t>Top 5 departments by admission rate (from SQL):</a:t>
            </a:r>
            <a:endParaRPr lang="en-US" sz="1450" dirty="0"/>
          </a:p>
        </p:txBody>
      </p:sp>
      <p:sp>
        <p:nvSpPr>
          <p:cNvPr id="5" name="Text 2"/>
          <p:cNvSpPr/>
          <p:nvPr/>
        </p:nvSpPr>
        <p:spPr>
          <a:xfrm>
            <a:off x="8032251" y="2963565"/>
            <a:ext cx="3504219" cy="26836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0"/>
              </a:rPr>
              <a:t>Renal — 53.49% (86 patients)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0"/>
              </a:rPr>
              <a:t>Neurology — 50.26% (193 patients)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0"/>
              </a:rPr>
              <a:t>Orthopedics — 50.05% (995 patients)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0"/>
              </a:rPr>
              <a:t>General Practice — 50.04% (7,240 patients)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0"/>
              </a:rPr>
              <a:t>Gastroenterology — 50.00% (178 patients)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36826"/>
            <a:ext cx="10868745" cy="3414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15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0"/>
              </a:rPr>
              <a:t>Waiting Time Insights</a:t>
            </a:r>
            <a:endParaRPr lang="en-US" sz="21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1077" y="994668"/>
            <a:ext cx="10489541" cy="512742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45214" y="2758843"/>
            <a:ext cx="2445415" cy="3056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90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0"/>
              </a:rPr>
              <a:t>Compute Average</a:t>
            </a:r>
            <a:endParaRPr lang="en-US" sz="1900" dirty="0"/>
          </a:p>
        </p:txBody>
      </p:sp>
      <p:sp>
        <p:nvSpPr>
          <p:cNvPr id="5" name="Text 2"/>
          <p:cNvSpPr/>
          <p:nvPr/>
        </p:nvSpPr>
        <p:spPr>
          <a:xfrm>
            <a:off x="6894704" y="1585015"/>
            <a:ext cx="2445415" cy="3056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90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0"/>
              </a:rPr>
              <a:t>Flag Above-Average</a:t>
            </a:r>
            <a:endParaRPr lang="en-US" sz="1900" dirty="0"/>
          </a:p>
        </p:txBody>
      </p:sp>
      <p:sp>
        <p:nvSpPr>
          <p:cNvPr id="6" name="Text 3"/>
          <p:cNvSpPr/>
          <p:nvPr/>
        </p:nvSpPr>
        <p:spPr>
          <a:xfrm>
            <a:off x="8068674" y="3997885"/>
            <a:ext cx="2509776" cy="3056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90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0"/>
              </a:rPr>
              <a:t>List High-Wait Cases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2578378" y="5193450"/>
            <a:ext cx="2970160" cy="3056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90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0"/>
              </a:rPr>
              <a:t>Recommend Monitoring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661475" y="6199919"/>
            <a:ext cx="11478330" cy="1379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0"/>
              </a:rPr>
              <a:t>Average waiting time ~35.20 minutes. Several patient records exceed average with waits of 39–59 minutes (examples listed in dataset). Use peak-hour analysis for staffing.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37523"/>
            <a:ext cx="10868745" cy="3046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0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0"/>
              </a:rPr>
              <a:t>Satisfaction &amp; Quality</a:t>
            </a:r>
            <a:endParaRPr lang="en-US" sz="19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961132"/>
            <a:ext cx="5315512" cy="531564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221058" y="3347068"/>
            <a:ext cx="5315512" cy="236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1000"/>
              </a:lnSpc>
              <a:buNone/>
            </a:pPr>
            <a:r>
              <a:rPr lang="en-US" sz="7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0"/>
              </a:rPr>
              <a:t>Average satisfaction scores were computed where available. Missing satisfaction values were imputed with median to enable departmental comparisons.</a:t>
            </a:r>
            <a:endParaRPr lang="en-US" sz="750" dirty="0"/>
          </a:p>
        </p:txBody>
      </p:sp>
      <p:sp>
        <p:nvSpPr>
          <p:cNvPr id="5" name="Shape 2"/>
          <p:cNvSpPr/>
          <p:nvPr/>
        </p:nvSpPr>
        <p:spPr>
          <a:xfrm>
            <a:off x="6221058" y="3631109"/>
            <a:ext cx="5315512" cy="256977"/>
          </a:xfrm>
          <a:prstGeom prst="roundRect">
            <a:avLst>
              <a:gd name="adj" fmla="val 15929"/>
            </a:avLst>
          </a:prstGeom>
          <a:solidFill>
            <a:srgbClr val="FFD8CC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8489" y="3715544"/>
            <a:ext cx="121738" cy="9743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537658" y="3709118"/>
            <a:ext cx="5511067" cy="118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1000"/>
              </a:lnSpc>
              <a:buNone/>
            </a:pPr>
            <a:r>
              <a:rPr lang="en-US" sz="7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0"/>
              </a:rPr>
              <a:t>Gastroenterology leads with avg 5.24 (top-ranked among departments with scores).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134529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0"/>
              </a:rPr>
              <a:t>Power BI Dashboard Highlights</a:t>
            </a:r>
            <a:endParaRPr lang="en-US" sz="37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825" y="2204244"/>
            <a:ext cx="2600558" cy="2600623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19588" y="2204244"/>
            <a:ext cx="2600657" cy="2600722"/>
          </a:xfrm>
          <a:prstGeom prst="rect">
            <a:avLst/>
          </a:prstGeom>
        </p:spPr>
      </p:pic>
      <p:pic>
        <p:nvPicPr>
          <p:cNvPr id="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1450" y="2204244"/>
            <a:ext cx="2600558" cy="2600623"/>
          </a:xfrm>
          <a:prstGeom prst="rect">
            <a:avLst/>
          </a:prstGeom>
        </p:spPr>
      </p:pic>
      <p:pic>
        <p:nvPicPr>
          <p:cNvPr id="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23213" y="2204244"/>
            <a:ext cx="2600657" cy="2600722"/>
          </a:xfrm>
          <a:prstGeom prst="rect">
            <a:avLst/>
          </a:prstGeom>
        </p:spPr>
      </p:pic>
      <p:sp>
        <p:nvSpPr>
          <p:cNvPr id="7" name="Text 1"/>
          <p:cNvSpPr/>
          <p:nvPr/>
        </p:nvSpPr>
        <p:spPr>
          <a:xfrm>
            <a:off x="661475" y="5139234"/>
            <a:ext cx="1086874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0"/>
              </a:rPr>
              <a:t>Dashboard features KPIs, age/gender/race charts, day-hour heatmap, slicers for department/gender/age/admission/date to explore trends interactively.</a:t>
            </a:r>
            <a:endParaRPr lang="en-US" sz="14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90248"/>
            <a:ext cx="10868745" cy="4705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95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0"/>
              </a:rPr>
              <a:t>Business Recommendations</a:t>
            </a:r>
            <a:endParaRPr lang="en-US" sz="29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1475" y="1285180"/>
            <a:ext cx="10868745" cy="9036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65563" y="1595834"/>
            <a:ext cx="225915" cy="28237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75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0"/>
              </a:rPr>
              <a:t>1</a:t>
            </a: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1402918" y="1454845"/>
            <a:ext cx="9957642" cy="2353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0"/>
              </a:rPr>
              <a:t>Improve Patient Flow</a:t>
            </a:r>
            <a:endParaRPr lang="en-US" sz="1450" dirty="0"/>
          </a:p>
        </p:txBody>
      </p:sp>
      <p:sp>
        <p:nvSpPr>
          <p:cNvPr id="6" name="Text 3"/>
          <p:cNvSpPr/>
          <p:nvPr/>
        </p:nvSpPr>
        <p:spPr>
          <a:xfrm>
            <a:off x="1402918" y="1762125"/>
            <a:ext cx="9957642" cy="2164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0"/>
              </a:rPr>
              <a:t>Monitor waiting-time peaks and reallocate staff during high-demand hours.</a:t>
            </a:r>
            <a:endParaRPr lang="en-US" sz="11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2308820"/>
            <a:ext cx="10868745" cy="90368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65563" y="2619474"/>
            <a:ext cx="225915" cy="28237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75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0"/>
              </a:rPr>
              <a:t>2</a:t>
            </a:r>
            <a:endParaRPr lang="en-US" sz="1750" dirty="0"/>
          </a:p>
        </p:txBody>
      </p:sp>
      <p:sp>
        <p:nvSpPr>
          <p:cNvPr id="9" name="Text 5"/>
          <p:cNvSpPr/>
          <p:nvPr/>
        </p:nvSpPr>
        <p:spPr>
          <a:xfrm>
            <a:off x="1402918" y="2478484"/>
            <a:ext cx="9957642" cy="2353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0"/>
              </a:rPr>
              <a:t>Plan Resources</a:t>
            </a:r>
            <a:endParaRPr lang="en-US" sz="1450" dirty="0"/>
          </a:p>
        </p:txBody>
      </p:sp>
      <p:sp>
        <p:nvSpPr>
          <p:cNvPr id="10" name="Text 6"/>
          <p:cNvSpPr/>
          <p:nvPr/>
        </p:nvSpPr>
        <p:spPr>
          <a:xfrm>
            <a:off x="1402918" y="2785765"/>
            <a:ext cx="9957642" cy="2164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0"/>
              </a:rPr>
              <a:t>Use day-hour volume patterns for staffing and supply planning.</a:t>
            </a:r>
            <a:endParaRPr lang="en-US" sz="115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1475" y="3332460"/>
            <a:ext cx="10868745" cy="903684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865563" y="3643114"/>
            <a:ext cx="225915" cy="28237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75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0"/>
              </a:rPr>
              <a:t>3</a:t>
            </a:r>
            <a:endParaRPr lang="en-US" sz="1750" dirty="0"/>
          </a:p>
        </p:txBody>
      </p:sp>
      <p:sp>
        <p:nvSpPr>
          <p:cNvPr id="13" name="Text 8"/>
          <p:cNvSpPr/>
          <p:nvPr/>
        </p:nvSpPr>
        <p:spPr>
          <a:xfrm>
            <a:off x="1402918" y="3502124"/>
            <a:ext cx="9957642" cy="2353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0"/>
              </a:rPr>
              <a:t>Monitor Departments</a:t>
            </a:r>
            <a:endParaRPr lang="en-US" sz="1450" dirty="0"/>
          </a:p>
        </p:txBody>
      </p:sp>
      <p:sp>
        <p:nvSpPr>
          <p:cNvPr id="14" name="Text 9"/>
          <p:cNvSpPr/>
          <p:nvPr/>
        </p:nvSpPr>
        <p:spPr>
          <a:xfrm>
            <a:off x="1402918" y="3809405"/>
            <a:ext cx="9957642" cy="2164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0"/>
              </a:rPr>
              <a:t>Track referral counts to understand distribution of visits and capacity needs.</a:t>
            </a:r>
            <a:endParaRPr lang="en-US" sz="115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61475" y="4356100"/>
            <a:ext cx="10868745" cy="903684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865563" y="4666754"/>
            <a:ext cx="225915" cy="28237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75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0"/>
              </a:rPr>
              <a:t>4</a:t>
            </a:r>
            <a:endParaRPr lang="en-US" sz="1750" dirty="0"/>
          </a:p>
        </p:txBody>
      </p:sp>
      <p:sp>
        <p:nvSpPr>
          <p:cNvPr id="17" name="Text 11"/>
          <p:cNvSpPr/>
          <p:nvPr/>
        </p:nvSpPr>
        <p:spPr>
          <a:xfrm>
            <a:off x="1402918" y="4525764"/>
            <a:ext cx="9957642" cy="2353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0"/>
              </a:rPr>
              <a:t>Improve Data Quality</a:t>
            </a:r>
            <a:endParaRPr lang="en-US" sz="1450" dirty="0"/>
          </a:p>
        </p:txBody>
      </p:sp>
      <p:sp>
        <p:nvSpPr>
          <p:cNvPr id="18" name="Text 12"/>
          <p:cNvSpPr/>
          <p:nvPr/>
        </p:nvSpPr>
        <p:spPr>
          <a:xfrm>
            <a:off x="1402918" y="4833045"/>
            <a:ext cx="9957642" cy="2164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0"/>
              </a:rPr>
              <a:t>Reduce missing department and satisfaction entries to strengthen reporting.</a:t>
            </a:r>
            <a:endParaRPr lang="en-US" sz="1150" dirty="0"/>
          </a:p>
        </p:txBody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61475" y="5379740"/>
            <a:ext cx="10868745" cy="903684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65563" y="5690394"/>
            <a:ext cx="225915" cy="28237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75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0"/>
              </a:rPr>
              <a:t>5</a:t>
            </a:r>
            <a:endParaRPr lang="en-US" sz="1750" dirty="0"/>
          </a:p>
        </p:txBody>
      </p:sp>
      <p:sp>
        <p:nvSpPr>
          <p:cNvPr id="21" name="Text 14"/>
          <p:cNvSpPr/>
          <p:nvPr/>
        </p:nvSpPr>
        <p:spPr>
          <a:xfrm>
            <a:off x="1402918" y="5549404"/>
            <a:ext cx="9957642" cy="2353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0"/>
              </a:rPr>
              <a:t>Track Experience</a:t>
            </a:r>
            <a:endParaRPr lang="en-US" sz="1450" dirty="0"/>
          </a:p>
        </p:txBody>
      </p:sp>
      <p:sp>
        <p:nvSpPr>
          <p:cNvPr id="22" name="Text 15"/>
          <p:cNvSpPr/>
          <p:nvPr/>
        </p:nvSpPr>
        <p:spPr>
          <a:xfrm>
            <a:off x="1402918" y="5856684"/>
            <a:ext cx="9957642" cy="2164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0"/>
              </a:rPr>
              <a:t>Continuously monitor satisfaction scores and waiting-time trends; use Power BI filters for cohort comparisons.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2026-10-22T14:21:08Z</dcterms:created>
  <dcterms:modified xsi:type="dcterms:W3CDTF">2026-10-22T14:21:08Z</dcterms:modified>
</cp:coreProperties>
</file>